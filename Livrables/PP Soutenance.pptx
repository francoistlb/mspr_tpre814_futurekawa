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4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88952" cy="21945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FutureKawa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CFFCC"/>
                </a:solidFill>
              </a:rPr>
              <a:t>Suivi IoT des stocks de café vert — Solution multi-pays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Conception &amp; développement d'une solution applicative
distribuée intégrant IoT, CI/CD et automatisation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FFCC"/>
                </a:solidFill>
              </a:rPr>
              <a:t>MSPR Bloc 4 — RNCP35584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1663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9BB99"/>
                </a:solidFill>
              </a:rPr>
              <a:t>EPSI 2025-2026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4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562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AA"/>
                </a:solidFill>
              </a:rPr>
              <a:t>FutureKawa — MSPR Bloc 4 RNCP35584 — EPSI 2025-2026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556248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Contexte &amp; Problématique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FFCC"/>
                </a:solidFill>
              </a:rPr>
              <a:t>FutureKawa — Caféiculture multi-pays (Brésil · Équateur · Colombie)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5486400" cy="2377440"/>
          </a:xfrm>
          <a:prstGeom prst="rect">
            <a:avLst/>
          </a:prstGeom>
          <a:solidFill>
            <a:srgbClr val="FF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25880"/>
            <a:ext cx="5486400" cy="4114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716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⚠  Problèmes identifiés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76479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▸  Suivi des conditions de stockage semi-manuel (tableurs)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13055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▸  Difficile de détecter les dérives température / humidité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49631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▸  Logique FIFO non garantie — lots anciens non expédiés en priorité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86207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▸  Aucune alerte automatique en cas d'anomalie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325880"/>
            <a:ext cx="5943600" cy="23774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0" y="1325880"/>
            <a:ext cx="5943600" cy="4114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1371600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✅  Besoins exprimés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176479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▸  Suivi temps réel (IoT) — temp. &amp; humidité par entrepôt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13055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▸  Alertes automatiques (hors seuil + péremption &gt; 365j)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249631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▸  Interface web centralisée siège + pays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286207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▸  Architecture distribuée — chaque pays autonome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840480"/>
            <a:ext cx="11640312" cy="2331720"/>
          </a:xfrm>
          <a:prstGeom prst="rect">
            <a:avLst/>
          </a:prstGeom>
          <a:solidFill>
            <a:srgbClr val="1A4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931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7E0F"/>
                </a:solidFill>
              </a:rPr>
              <a:t>Notre réponse en chiffres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343400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D47E0F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9834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FFCC"/>
                </a:solidFill>
              </a:rPr>
              <a:t>pays
couverts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4343400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D47E0F"/>
                </a:solidFill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49834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FFCC"/>
                </a:solidFill>
              </a:rPr>
              <a:t>entrepôts
instrumentés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4343400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D47E0F"/>
                </a:solidFill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49834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FFCC"/>
                </a:solidFill>
              </a:rPr>
              <a:t>types
d'alertes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343400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D47E0F"/>
                </a:solidFill>
              </a:rPr>
              <a:t>38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49834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FFCC"/>
                </a:solidFill>
              </a:rPr>
              <a:t>tests
automatisés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343400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D47E0F"/>
                </a:solidFill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49834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FFCC"/>
                </a:solidFill>
              </a:rPr>
              <a:t>stages
CI/CD Jenkins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4343400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D47E0F"/>
                </a:solidFill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49834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FFCC"/>
                </a:solidFill>
              </a:rPr>
              <a:t>livrables
remis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4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65562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AA"/>
                </a:solidFill>
              </a:rPr>
              <a:t>FutureKawa — MSPR Bloc 4 RNCP35584 — EPSI 2025-2026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0" y="6556248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Architecture distribuée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FFCC"/>
                </a:solidFill>
              </a:rPr>
              <a:t>Stack indépendante par pays + siège central d'agrégation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1645920" cy="9144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716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Arduino
+ DHT22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1371600"/>
            <a:ext cx="1645920" cy="9144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0" y="13716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mqtt.py
(Python)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1371600"/>
            <a:ext cx="1645920" cy="914400"/>
          </a:xfrm>
          <a:prstGeom prst="rect">
            <a:avLst/>
          </a:prstGeom>
          <a:solidFill>
            <a:srgbClr val="05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13716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Mosquitto
Broker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371600"/>
            <a:ext cx="1645920" cy="914400"/>
          </a:xfrm>
          <a:prstGeom prst="rect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3716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API REST
(Node.js)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1371600"/>
            <a:ext cx="1645920" cy="9144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13716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SQLite
(BDD locale)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75520" y="1371600"/>
            <a:ext cx="1645920" cy="914400"/>
          </a:xfrm>
          <a:prstGeom prst="rect">
            <a:avLst/>
          </a:prstGeom>
          <a:solidFill>
            <a:srgbClr val="1A4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0" y="13716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Backend
Siège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16459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D6A4F"/>
                </a:solidFill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16459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D6A4F"/>
                </a:solidFill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16459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D6A4F"/>
                </a:solidFill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16459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D6A4F"/>
                </a:solidFill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199" y="16459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D6A4F"/>
                </a:solidFill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23774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333333"/>
                </a:solidFill>
              </a:rPr>
              <a:t>USB
Série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23774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333333"/>
                </a:solidFill>
              </a:rPr>
              <a:t>MQTT
Publish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23774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333333"/>
                </a:solidFill>
              </a:rPr>
              <a:t>MQTT
Subscribe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80" y="23774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333333"/>
                </a:solidFill>
              </a:rPr>
              <a:t>INSERT
SQLite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6919" y="23774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333333"/>
                </a:solidFill>
              </a:rPr>
              <a:t>HTTP
REST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75520" y="2743200"/>
            <a:ext cx="1645920" cy="640080"/>
          </a:xfrm>
          <a:prstGeom prst="rect">
            <a:avLst/>
          </a:prstGeom>
          <a:solidFill>
            <a:srgbClr val="D47E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5520" y="27432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Frontend
React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40" y="2377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↑ HTTP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291840"/>
            <a:ext cx="7406640" cy="14630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3337560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7AB8"/>
                </a:solidFill>
              </a:rPr>
              <a:t>Stack pays (×3 indépendantes — Brésil :8001 · Équateur :8002 · Colombie :8003)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3749039"/>
            <a:ext cx="7040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Brésil — MQTT :1883 / API :8001 / DB /data/futurekawa.db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069079"/>
            <a:ext cx="7040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Équateur — MQTT :1884 / API :8002 / DB /data/futurekawa.db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389120"/>
            <a:ext cx="7040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Colombie — MQTT :1885 / API :8003 / DB /data/futurekawa.db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63840" y="3291840"/>
            <a:ext cx="4023360" cy="14630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46720" y="3337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6A4F"/>
                </a:solidFill>
              </a:rPr>
              <a:t>Siège (central — :8000 / :3000)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370332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Agrégation 3 pays — timeout 3s par pays
• Résilience : réponse partielle si pays indisponible
• Frontend React + Chart.js — MailHog (emails dev)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4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65562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AA"/>
                </a:solidFill>
              </a:rPr>
              <a:t>FutureKawa — MSPR Bloc 4 RNCP35584 — EPSI 2025-2026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0" y="6556248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Module IoT — Arduino + DHT22 + MQTT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FFCC"/>
                </a:solidFill>
              </a:rPr>
              <a:t>Instrumentation des entrepôts — relevés automatiques toutes les 30s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4114800" cy="25603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25880"/>
            <a:ext cx="4114800" cy="4114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7160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🔧  Matériel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76479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▸  Arduino UNO — microcontrôleur, lecture capteur série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13055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▸  Capteur DHT22 — température ±0.5°C / humidité ±2%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49631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▸  Résistance pull-up 10 kΩ sur pin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86207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▸  Câble USB — liaison série Arduino ↔ PC hôte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325880"/>
            <a:ext cx="3657600" cy="25603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1325880"/>
            <a:ext cx="3657600" cy="4114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13716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🐍  Script mqtt.py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176479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▸  Python 3 + paho-mqtt + pyserial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13055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▸  Lecture port série (COM3 / /dev/cu.usbmodem…)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249631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▸  Payload JSON → publish MQTT toutes les 30s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286207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▸  Reconnexion automatique MQTT (loop_start)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1325880"/>
            <a:ext cx="3474720" cy="256032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12480" y="1325880"/>
            <a:ext cx="3474720" cy="4114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137160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📡  Topics MQTT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176479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▸  futurekawa/bresil/BR01/mesures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213055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▸  futurekawa/equateur/EQ01/mesures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249631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▸  futurekawa/colombie/CO01/mesures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28620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▸  Payload : { "entrepot":"BR01", "temp":28.5, "hum":54.2, "ts":"..." 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023360"/>
            <a:ext cx="11640312" cy="2148840"/>
          </a:xfrm>
          <a:prstGeom prst="rect">
            <a:avLst/>
          </a:prstGeom>
          <a:solidFill>
            <a:srgbClr val="1A4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7E0F"/>
                </a:solidFill>
              </a:rPr>
              <a:t>Seuils de stockage par pays (configurés en BDD)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5262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FFCC"/>
                </a:solidFill>
              </a:rPr>
              <a:t>🇧🇷  Brésil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8920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29°C ± 3°C
55% ± 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45262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FFCC"/>
                </a:solidFill>
              </a:rPr>
              <a:t>🇪🇨  Équateur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48920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31°C ± 3°C
60% ± 2%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45262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FFCC"/>
                </a:solidFill>
              </a:rPr>
              <a:t>🇨🇴  Colombie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48920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26°C ± 3°C
80% ± 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45262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FFCC"/>
                </a:solidFill>
              </a:rPr>
              <a:t>⚠  Hors plage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48920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→ Alerte email
immédiate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45262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FFCC"/>
                </a:solidFill>
              </a:rPr>
              <a:t>📅  &gt; 365 jours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48920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→ Alerte email
péremption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4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65562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AA"/>
                </a:solidFill>
              </a:rPr>
              <a:t>FutureKawa — MSPR Bloc 4 RNCP35584 — EPSI 2025-2026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0" y="6556248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Backend pays — API REST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FFCC"/>
                </a:solidFill>
              </a:rPr>
              <a:t>Code partagé · 3 instances indépendantes · Swagger /docs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7772400" cy="4846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25880"/>
            <a:ext cx="7772400" cy="38404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353312"/>
            <a:ext cx="7498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Endpoints REST — documentés Swagger (OpenAPI 3)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783080"/>
            <a:ext cx="2651760" cy="457200"/>
          </a:xfrm>
          <a:prstGeom prst="rect">
            <a:avLst/>
          </a:prstGeom>
          <a:solidFill>
            <a:srgbClr val="D5E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856232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472A"/>
                </a:solidFill>
              </a:rPr>
              <a:t>GET  /health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185623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État du service — utilisé par le CI/CD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350008"/>
            <a:ext cx="2651760" cy="457200"/>
          </a:xfrm>
          <a:prstGeom prst="rect">
            <a:avLst/>
          </a:prstGeom>
          <a:solidFill>
            <a:srgbClr val="D5E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423160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472A"/>
                </a:solidFill>
              </a:rPr>
              <a:t>GET  /lots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242316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Liste FIFO (tri ASC date_stockage)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916936"/>
            <a:ext cx="2651760" cy="4572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99008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POST /lots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299008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Créer un lot (id, entrepôt, date_stockage)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483863"/>
            <a:ext cx="2651760" cy="4572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557015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PUT  /lots/:id/statut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3557015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Mettre à jour : conforme | en_alerte | périmé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050791"/>
            <a:ext cx="2651760" cy="457200"/>
          </a:xfrm>
          <a:prstGeom prst="rect">
            <a:avLst/>
          </a:prstGeom>
          <a:solidFill>
            <a:srgbClr val="D5E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123943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472A"/>
                </a:solidFill>
              </a:rPr>
              <a:t>GET  /mesures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3240" y="4123943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Historique mesures IoT (limit 200, max 500)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617720"/>
            <a:ext cx="2651760" cy="4572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4690872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POST /mesures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63240" y="469087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Mesure manuelle → vérifie seuils → alerte si hors plage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5184648"/>
            <a:ext cx="2651760" cy="457200"/>
          </a:xfrm>
          <a:prstGeom prst="rect">
            <a:avLst/>
          </a:prstGeom>
          <a:solidFill>
            <a:srgbClr val="D5E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5257800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472A"/>
                </a:solidFill>
              </a:rPr>
              <a:t>GET  /alertes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63240" y="525780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Toutes les alertes du pays (hors_plage + péremption)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21040" y="1325880"/>
            <a:ext cx="3566160" cy="484632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321040" y="1325880"/>
            <a:ext cx="3566160" cy="4114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137160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⚙  Stack technique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176479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▸  Node.js 20 + Express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21305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▸  SQLite via better-sqlite3 (WAL mode)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200" y="249631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▸  Nodemailer → MailHog (dev) / SMTP (prod)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58200" y="286207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▸  Consumer MQTT (mqtt.js) — reconnexion auto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8200" y="322783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▸  Swagger UI (/docs) + OpenAPI JSON (/openapi.json)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359359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▸  Check péremption : setInterval 1h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4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65562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AA"/>
                </a:solidFill>
              </a:rPr>
              <a:t>FutureKawa — MSPR Bloc 4 RNCP35584 — EPSI 2025-2026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0" y="6556248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Siège — Frontend React + Backend d'agrégation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FFCC"/>
                </a:solidFill>
              </a:rPr>
              <a:t>:3000 Frontend · :8000 API siège · Résilience timeout 3s par pays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2788920" cy="2286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71600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🏠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20240"/>
            <a:ext cx="2606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FFCC"/>
                </a:solidFill>
              </a:rPr>
              <a:t>Vue globale — indicateurs clés,
courbes IoT temps réel, alertes récentes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325880"/>
            <a:ext cx="2788920" cy="2286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371600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📦 Stocks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920240"/>
            <a:ext cx="2606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FFCC"/>
                </a:solidFill>
              </a:rPr>
              <a:t>Liste lots triée FIFO, filtre pays,
codes couleur statut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325880"/>
            <a:ext cx="2788920" cy="2286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371600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🔍 Détail 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920240"/>
            <a:ext cx="2606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FFCC"/>
                </a:solidFill>
              </a:rPr>
              <a:t>Courbes temp/hum depuis stockage
(Chart.js), alertes liées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89720" y="1325880"/>
            <a:ext cx="2788920" cy="2286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20" y="1371600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🔔 Alertes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1920240"/>
            <a:ext cx="2606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FFCC"/>
                </a:solidFill>
              </a:rPr>
              <a:t>Hors plage + péremption, filtre pays/type,
confirmation email envoyé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749039"/>
            <a:ext cx="11640312" cy="2423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749039"/>
            <a:ext cx="11640312" cy="38404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7764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Backend siège — Agrégation &amp; Résilience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2062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6A4F"/>
                </a:solidFill>
              </a:rPr>
              <a:t>GET /siege/stocks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20624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Consolide les lots des 3 pays — réponse partielle si pays KO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58114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6A4F"/>
                </a:solidFill>
              </a:rPr>
              <a:t>GET /siege/stocks?pays=XX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581144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Filtre par pays (bresil | equateur | colombie)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95604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6A4F"/>
                </a:solidFill>
              </a:rPr>
              <a:t>GET /siege/mesures/:pays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495604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Historique mesures d'un pays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33095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6A4F"/>
                </a:solidFill>
              </a:rPr>
              <a:t>GET /siege/alertes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533095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Alertes consolidées des 3 pays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705855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6A4F"/>
                </a:solidFill>
              </a:rPr>
              <a:t>GET /siege/alertes?pays=XX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5705855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Alertes filtrées par pays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4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65562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AA"/>
                </a:solidFill>
              </a:rPr>
              <a:t>FutureKawa — MSPR Bloc 4 RNCP35584 — EPSI 2025-2026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0" y="6556248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Alertes automatiques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FFCC"/>
                </a:solidFill>
              </a:rPr>
              <a:t>2 types · Email immédiat · Visible dans MailHog (dev) ou SMTP (prod)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5577840" cy="2468880"/>
          </a:xfrm>
          <a:prstGeom prst="rect">
            <a:avLst/>
          </a:prstGeom>
          <a:solidFill>
            <a:srgbClr val="FF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25880"/>
            <a:ext cx="5577840" cy="411480"/>
          </a:xfrm>
          <a:prstGeom prst="rect">
            <a:avLst/>
          </a:prstGeom>
          <a:solidFill>
            <a:srgbClr val="D47E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35331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🌡  Alerte hors plage (immédiate)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810512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Déclencheur :
  |T mesurée − T idéale| &gt; tolerance OU
  |H mesurée − H idéale| &gt; tolerance
Flux : MQTT receive → vérifierSeuils()
          → INSERT alertes → sendMail()
Objet email : [ALERTE] Conditions hors seuils — BR01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325880"/>
            <a:ext cx="5760720" cy="246888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325880"/>
            <a:ext cx="5760720" cy="411480"/>
          </a:xfrm>
          <a:prstGeom prst="rect">
            <a:avLst/>
          </a:prstGeom>
          <a:solidFill>
            <a:srgbClr val="B85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35331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📅  Alerte péremption (vérification horaire)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810512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Déclencheur :
  lot.date_stockage &lt; now − 365 jours
  ET lot.statut ≠ 'perime'
Flux : setInterval(1h) → verifierPeremption()
          → UPDATE statut → INSERT alertes → sendMail()
Objet email : [ALERTE] Lot périmé — LOT-BR-2024-001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931920"/>
            <a:ext cx="11640312" cy="2240280"/>
          </a:xfrm>
          <a:prstGeom prst="rect">
            <a:avLst/>
          </a:prstGeom>
          <a:solidFill>
            <a:srgbClr val="1A4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0050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7E0F"/>
                </a:solidFill>
              </a:rPr>
              <a:t>🎯  Démo en direct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4074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FFCC"/>
                </a:solidFill>
              </a:rPr>
              <a:t>1.  bash test-cicd/demo.sh    →  insère 30 lots + déclenche check péremption immédiat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FFCC"/>
                </a:solidFill>
              </a:rPr>
              <a:t>2.  sim-arduino.sh --loop     →  mesures aléatoires (~15% hors seuil → email instantané)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1937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FFCC"/>
                </a:solidFill>
              </a:rPr>
              <a:t>3.  http://localhost:8025      →  MailHog — emails reçus en temps réel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58698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FFCC"/>
                </a:solidFill>
              </a:rPr>
              <a:t>4.  http://localhost:3000      →  Frontend — alertes visibles page Alertes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4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5562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AA"/>
                </a:solidFill>
              </a:rPr>
              <a:t>FutureKawa — MSPR Bloc 4 RNCP35584 — EPSI 2025-2026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556248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Tests — 38 tests automatisés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FFCC"/>
                </a:solidFill>
              </a:rPr>
              <a:t>Unitaires · Intégration · API · End-to-end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2651760" cy="14630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402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Tests
backend pays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325880"/>
            <a:ext cx="2651760" cy="1463040"/>
          </a:xfrm>
          <a:prstGeom prst="rect">
            <a:avLst/>
          </a:prstGeom>
          <a:solidFill>
            <a:srgbClr val="05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4173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2402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Tests
backend siège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325880"/>
            <a:ext cx="2651760" cy="1463040"/>
          </a:xfrm>
          <a:prstGeom prst="rect">
            <a:avLst/>
          </a:prstGeom>
          <a:solidFill>
            <a:srgbClr val="D47E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4173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2402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Health checks
CI intégration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1325880"/>
            <a:ext cx="2651760" cy="1463040"/>
          </a:xfrm>
          <a:prstGeom prst="rect">
            <a:avLst/>
          </a:prstGeom>
          <a:solidFill>
            <a:srgbClr val="1A4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14173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2402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Total
automatisés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926080"/>
            <a:ext cx="11640312" cy="2788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2926080"/>
            <a:ext cx="11640312" cy="38404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95351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Suites de tests Jest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383280"/>
            <a:ext cx="2468880" cy="3657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41985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alertes.test.js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3419856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9 tests — vérification seuils IoT par pays (Brésil, Équateur, Colombie)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840480"/>
            <a:ext cx="2468880" cy="3657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87705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mesures.test.js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71800" y="3877056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6 tests — GET/POST mesures, détection hors plage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297680"/>
            <a:ext cx="2468880" cy="3657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33425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fifo.test.js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1800" y="4334256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3 tests — tri ASC date_stockage, logique FIFO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754880"/>
            <a:ext cx="2468880" cy="3657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79145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lots.test.js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71800" y="4791456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8 tests — CRUD lots, statuts, health check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212080"/>
            <a:ext cx="2468880" cy="3657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24865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siege.test.js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71800" y="5248656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12 tests — agrégation multi-pays, résilience timeout, routes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4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65562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AA"/>
                </a:solidFill>
              </a:rPr>
              <a:t>FutureKawa — MSPR Bloc 4 RNCP35584 — EPSI 2025-2026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0" y="6556248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Pipeline CI/CD Jenkins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FFCC"/>
                </a:solidFill>
              </a:rPr>
              <a:t>Déclenchement automatique sur push develop / main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1371600" cy="11887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49047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Checkout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92024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FFCC"/>
                </a:solidFill>
              </a:rPr>
              <a:t>Clone le repo à la révision du commit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4208" y="17830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D6A4F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83080" y="1417320"/>
            <a:ext cx="1371600" cy="11887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83080" y="149047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Prepare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92024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FFCC"/>
                </a:solidFill>
              </a:rPr>
              <a:t>Récupère .env.ci
(credential Jenkins)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72968" y="17830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D6A4F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417320"/>
            <a:ext cx="1371600" cy="1188720"/>
          </a:xfrm>
          <a:prstGeom prst="rect">
            <a:avLst/>
          </a:prstGeom>
          <a:solidFill>
            <a:srgbClr val="05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149047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92024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FFCC"/>
                </a:solidFill>
              </a:rPr>
              <a:t>docker compose
build --no-cache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1728" y="17830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D6A4F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00600" y="1417320"/>
            <a:ext cx="1371600" cy="1188720"/>
          </a:xfrm>
          <a:prstGeom prst="rect">
            <a:avLst/>
          </a:prstGeom>
          <a:solidFill>
            <a:srgbClr val="05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0600" y="149047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192024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FFCC"/>
                </a:solidFill>
              </a:rPr>
              <a:t>docker compose
up -d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0488" y="17830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D6A4F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1417320"/>
            <a:ext cx="1371600" cy="1188720"/>
          </a:xfrm>
          <a:prstGeom prst="rect">
            <a:avLst/>
          </a:prstGeom>
          <a:solidFill>
            <a:srgbClr val="D47E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149047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Health
Checks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192024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FFCC"/>
                </a:solidFill>
              </a:rPr>
              <a:t>Attente 4 APIs
(max 60s)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9248" y="17830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D6A4F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18120" y="1417320"/>
            <a:ext cx="1371600" cy="1188720"/>
          </a:xfrm>
          <a:prstGeom prst="rect">
            <a:avLst/>
          </a:prstGeom>
          <a:solidFill>
            <a:srgbClr val="D47E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18120" y="149047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Tests
unitaires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192024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FFCC"/>
                </a:solidFill>
              </a:rPr>
              <a:t>npm test
26 + 12 tests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08008" y="17830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D6A4F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26880" y="1417320"/>
            <a:ext cx="1371600" cy="1188720"/>
          </a:xfrm>
          <a:prstGeom prst="rect">
            <a:avLst/>
          </a:prstGeom>
          <a:solidFill>
            <a:srgbClr val="1A4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0" y="149047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Tests
intégration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2600" y="192024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FFCC"/>
                </a:solidFill>
              </a:rPr>
              <a:t>health-check.sh
4/4 PASS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16768" y="17830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D6A4F"/>
                </a:solidFill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835640" y="1417320"/>
            <a:ext cx="1371600" cy="1188720"/>
          </a:xfrm>
          <a:prstGeom prst="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835640" y="149047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81360" y="192024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FFCC"/>
                </a:solidFill>
              </a:rPr>
              <a:t>docker compose
down -v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2743200"/>
            <a:ext cx="5486400" cy="11887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2788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A4F"/>
                </a:solidFill>
              </a:rPr>
              <a:t>✅  Succès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315468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• Statut GitHub : jenkins/ci : success
• Badge vert sur la PR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743200"/>
            <a:ext cx="5852160" cy="118872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26480" y="27889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85450"/>
                </a:solidFill>
              </a:rPr>
              <a:t>❌  Échec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0" y="3154680"/>
            <a:ext cx="5577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• Logs exportés (docker logs --tail=50)
• Statut GitHub : jenkins/ci : failure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4069080"/>
            <a:ext cx="11640312" cy="2103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74320" y="4069080"/>
            <a:ext cx="11640312" cy="4114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4114800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⚙  Particularités techniques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" y="4507992"/>
            <a:ext cx="11365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▸  Docker-in-Docker via socket partagé (/var/run/docker.sock)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" y="4873752"/>
            <a:ext cx="11365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▸  Isolation build : COMPOSE_PROJECT_NAME = futurekawa-ci-${BUILD_NUMBER}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" y="5239512"/>
            <a:ext cx="11365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▸  Credentials Jenkins : fichier .env.ci injecté via withCredentials()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" y="5605272"/>
            <a:ext cx="11365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▸  Mosquitto : config inline (entrypoint) — contourne les bind mounts Jenkins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4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65562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AA"/>
                </a:solidFill>
              </a:rPr>
              <a:t>FutureKawa — MSPR Bloc 4 RNCP35584 — EPSI 2025-2026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430000" y="6556248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Phase 2 — Automatisation des entrepôts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FFCC"/>
                </a:solidFill>
              </a:rPr>
              <a:t>Capteurs → Décision → Actionneurs · Schéma de principe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2103120" cy="8229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Capteur
DHT22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6642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D6A4F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79" y="1371600"/>
            <a:ext cx="2103120" cy="822960"/>
          </a:xfrm>
          <a:prstGeom prst="rect">
            <a:avLst/>
          </a:prstGeom>
          <a:solidFill>
            <a:srgbClr val="05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79" y="137160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Broker
MQTT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199" y="16642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D6A4F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0" y="1371600"/>
            <a:ext cx="2103120" cy="822960"/>
          </a:xfrm>
          <a:prstGeom prst="rect">
            <a:avLst/>
          </a:prstGeom>
          <a:solidFill>
            <a:srgbClr val="D47E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137160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Moteur de
Décision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16642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D6A4F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19" y="1371600"/>
            <a:ext cx="2103120" cy="822960"/>
          </a:xfrm>
          <a:prstGeom prst="rect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19" y="137160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Contrôleur
GPIO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515600" y="1371600"/>
            <a:ext cx="1463040" cy="731520"/>
          </a:xfrm>
          <a:prstGeom prst="rect">
            <a:avLst/>
          </a:prstGeom>
          <a:solidFill>
            <a:srgbClr val="FF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0" y="13716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472A"/>
                </a:solidFill>
              </a:rPr>
              <a:t>🔥 Chauffage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173736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</a:rPr>
              <a:t>Si T &lt; T_min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515600" y="2286000"/>
            <a:ext cx="1463040" cy="731520"/>
          </a:xfrm>
          <a:prstGeom prst="rect">
            <a:avLst/>
          </a:prstGeom>
          <a:solidFill>
            <a:srgbClr val="8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0" y="22860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472A"/>
                </a:solidFill>
              </a:rPr>
              <a:t>💨 Aération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265176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</a:rPr>
              <a:t>Si T &gt; T_max
ou H &gt; H_max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515600" y="3200400"/>
            <a:ext cx="1463040" cy="731520"/>
          </a:xfrm>
          <a:prstGeom prst="rect">
            <a:avLst/>
          </a:prstGeom>
          <a:solidFill>
            <a:srgbClr val="8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0" y="32004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472A"/>
                </a:solidFill>
              </a:rPr>
              <a:t>💧 Humidif.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356616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</a:rPr>
              <a:t>Si H &lt; H_min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2084831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D6A4F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514600"/>
            <a:ext cx="5943600" cy="2286000"/>
          </a:xfrm>
          <a:prstGeom prst="rect">
            <a:avLst/>
          </a:prstGeom>
          <a:solidFill>
            <a:srgbClr val="FF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2514600"/>
            <a:ext cx="5943600" cy="4114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2560320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🛡  Sécurités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295351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▸  Switch Manuel/Auto — priorité absolue sur le logiciel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331927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▸  Arrêt d'urgence physique — coupe alimentation 24V (E-STOP)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368503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▸  Watchdog 60s — si plus de mesures → SAFE STATE (tous OFF)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405079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▸  Disjoncteurs par actionneur — protection électrique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2514600"/>
            <a:ext cx="5486400" cy="2286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0" y="2514600"/>
            <a:ext cx="5486400" cy="4114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25603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⚠  Cas dégradés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295351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▸  Perte MQTT → watchdog → SAFE STATE + alerte email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331927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▸  Capteur défaillant → mode manuel forcé + alerte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3685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▸  Actionneur KO → désactivation + ticket maintenance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405079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▸  Panne électrique → position repos (sécurité passive)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4937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D6A4F"/>
                </a:solidFill>
              </a:rPr>
              <a:t>→  Schéma complet disponible : Livrables/schema-automatisation.drawio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4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65562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AA"/>
                </a:solidFill>
              </a:rPr>
              <a:t>FutureKawa — MSPR Bloc 4 RNCP35584 — EPSI 2025-2026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0" y="6556248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Bilan — Compétences acquises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FFCC"/>
                </a:solidFill>
              </a:rPr>
              <a:t>RNCP35584 Bloc 4 · 10 livrables remis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2743200" cy="19202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44475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Collect. besoins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29968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FFCC"/>
                </a:solidFill>
              </a:rPr>
              <a:t>Analyse CDC FutureKawa,
identification besoins métier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371600"/>
            <a:ext cx="2743200" cy="19202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44475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Architecture
distribuée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029968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FFCC"/>
                </a:solidFill>
              </a:rPr>
              <a:t>3 stacks pays isolées
+ siège central résilient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2743200" cy="19202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44475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Développement
applicatif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029968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FFCC"/>
                </a:solidFill>
              </a:rPr>
              <a:t>Node.js, React, SQLite,
MQTT, Docker Compose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89720" y="1371600"/>
            <a:ext cx="2743200" cy="19202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20" y="144475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Intégration IoT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2029968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FFCC"/>
                </a:solidFill>
              </a:rPr>
              <a:t>Arduino DHT22 → MQTT
→ API → BDD → Alertes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474720"/>
            <a:ext cx="2743200" cy="19202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354787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133088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FFCC"/>
                </a:solidFill>
              </a:rPr>
              <a:t>38 tests Jest,
Postman, health checks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46120" y="3474720"/>
            <a:ext cx="2743200" cy="19202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354787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CI/CD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4133088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FFCC"/>
                </a:solidFill>
              </a:rPr>
              <a:t>Jenkins Jenkinsfile
5 stages automatisés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474720"/>
            <a:ext cx="2743200" cy="19202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354787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Documentation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133088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FFCC"/>
                </a:solidFill>
              </a:rPr>
              <a:t>Doc technique, guide
utilisateur, Swagger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89720" y="3474720"/>
            <a:ext cx="2743200" cy="19202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89720" y="354787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Conduite
changement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4133088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FFCC"/>
                </a:solidFill>
              </a:rPr>
              <a:t>Guide utilisateur,
questionnaire Phase 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4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65562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AA"/>
                </a:solidFill>
              </a:rPr>
              <a:t>FutureKawa — MSPR Bloc 4 RNCP35584 — EPSI 2025-2026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0" y="6556248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4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18288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Merci pour votre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FFCC"/>
                </a:solidFill>
              </a:rPr>
              <a:t>FutureKawa — Solution IoT de suivi des stocks de café vert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D47E0F"/>
                </a:solidFill>
              </a:rPr>
              <a:t>Questions 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2103120" cy="6400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59028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🌐 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920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FFCC"/>
                </a:solidFill>
              </a:rPr>
              <a:t>http://localhost:3000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88920" y="4572000"/>
            <a:ext cx="2103120" cy="6400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459028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📄 API Siège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48920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FFCC"/>
                </a:solidFill>
              </a:rPr>
              <a:t>http://localhost:8000/docs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0" y="4572000"/>
            <a:ext cx="2103120" cy="6400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459028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📋 API Brésil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48920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FFCC"/>
                </a:solidFill>
              </a:rPr>
              <a:t>http://localhost:8001/docs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52359" y="4572000"/>
            <a:ext cx="2103120" cy="6400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59" y="459028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📧 MailHog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59" y="48920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FFCC"/>
                </a:solidFill>
              </a:rPr>
              <a:t>http://localhost:8025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84080" y="4572000"/>
            <a:ext cx="2103120" cy="6400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0" y="459028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⚙ Jenkins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48920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FFCC"/>
                </a:solidFill>
              </a:rPr>
              <a:t>http://localhost:8080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2179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79977"/>
                </a:solidFill>
              </a:rPr>
              <a:t>MSPR Bloc 4 — RNCP35584 — EPSI 2025-2026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4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562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AA"/>
                </a:solidFill>
              </a:rPr>
              <a:t>FutureKawa — MSPR Bloc 4 RNCP35584 — EPSI 2025-2026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6556248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